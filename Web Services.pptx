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57" r:id="rId7"/>
    <p:sldId id="262" r:id="rId8"/>
    <p:sldId id="263" r:id="rId9"/>
    <p:sldId id="264" r:id="rId10"/>
    <p:sldId id="265" r:id="rId11"/>
    <p:sldId id="266" r:id="rId12"/>
    <p:sldId id="268" r:id="rId13"/>
    <p:sldId id="269" r:id="rId14"/>
    <p:sldId id="267"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41C27D1-4DD1-4FD5-A00C-19FB72C448F4}" type="datetimeFigureOut">
              <a:rPr lang="en-IN" smtClean="0"/>
              <a:t>02-02-2016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537617-4D74-4685-B77E-F4E0CDFEC05A}" type="slidenum">
              <a:rPr lang="en-IN" smtClean="0"/>
              <a:t>‹#›</a:t>
            </a:fld>
            <a:endParaRPr lang="en-IN"/>
          </a:p>
        </p:txBody>
      </p:sp>
    </p:spTree>
    <p:extLst>
      <p:ext uri="{BB962C8B-B14F-4D97-AF65-F5344CB8AC3E}">
        <p14:creationId xmlns:p14="http://schemas.microsoft.com/office/powerpoint/2010/main" val="1177803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41C27D1-4DD1-4FD5-A00C-19FB72C448F4}" type="datetimeFigureOut">
              <a:rPr lang="en-IN" smtClean="0"/>
              <a:t>02-02-2016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537617-4D74-4685-B77E-F4E0CDFEC05A}" type="slidenum">
              <a:rPr lang="en-IN" smtClean="0"/>
              <a:t>‹#›</a:t>
            </a:fld>
            <a:endParaRPr lang="en-IN"/>
          </a:p>
        </p:txBody>
      </p:sp>
    </p:spTree>
    <p:extLst>
      <p:ext uri="{BB962C8B-B14F-4D97-AF65-F5344CB8AC3E}">
        <p14:creationId xmlns:p14="http://schemas.microsoft.com/office/powerpoint/2010/main" val="1589181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1C27D1-4DD1-4FD5-A00C-19FB72C448F4}" type="datetimeFigureOut">
              <a:rPr lang="en-IN" smtClean="0"/>
              <a:t>02-02-2016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537617-4D74-4685-B77E-F4E0CDFEC05A}" type="slidenum">
              <a:rPr lang="en-IN" smtClean="0"/>
              <a:t>‹#›</a:t>
            </a:fld>
            <a:endParaRPr lang="en-IN"/>
          </a:p>
        </p:txBody>
      </p:sp>
    </p:spTree>
    <p:extLst>
      <p:ext uri="{BB962C8B-B14F-4D97-AF65-F5344CB8AC3E}">
        <p14:creationId xmlns:p14="http://schemas.microsoft.com/office/powerpoint/2010/main" val="1579406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41C27D1-4DD1-4FD5-A00C-19FB72C448F4}" type="datetimeFigureOut">
              <a:rPr lang="en-IN" smtClean="0"/>
              <a:t>02-02-2016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537617-4D74-4685-B77E-F4E0CDFEC05A}" type="slidenum">
              <a:rPr lang="en-IN" smtClean="0"/>
              <a:t>‹#›</a:t>
            </a:fld>
            <a:endParaRPr lang="en-IN"/>
          </a:p>
        </p:txBody>
      </p:sp>
    </p:spTree>
    <p:extLst>
      <p:ext uri="{BB962C8B-B14F-4D97-AF65-F5344CB8AC3E}">
        <p14:creationId xmlns:p14="http://schemas.microsoft.com/office/powerpoint/2010/main" val="4097972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41C27D1-4DD1-4FD5-A00C-19FB72C448F4}" type="datetimeFigureOut">
              <a:rPr lang="en-IN" smtClean="0"/>
              <a:t>02-02-2016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3537617-4D74-4685-B77E-F4E0CDFEC05A}" type="slidenum">
              <a:rPr lang="en-IN" smtClean="0"/>
              <a:t>‹#›</a:t>
            </a:fld>
            <a:endParaRPr lang="en-IN"/>
          </a:p>
        </p:txBody>
      </p:sp>
    </p:spTree>
    <p:extLst>
      <p:ext uri="{BB962C8B-B14F-4D97-AF65-F5344CB8AC3E}">
        <p14:creationId xmlns:p14="http://schemas.microsoft.com/office/powerpoint/2010/main" val="1535212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41C27D1-4DD1-4FD5-A00C-19FB72C448F4}" type="datetimeFigureOut">
              <a:rPr lang="en-IN" smtClean="0"/>
              <a:t>02-02-2016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3537617-4D74-4685-B77E-F4E0CDFEC05A}" type="slidenum">
              <a:rPr lang="en-IN" smtClean="0"/>
              <a:t>‹#›</a:t>
            </a:fld>
            <a:endParaRPr lang="en-IN"/>
          </a:p>
        </p:txBody>
      </p:sp>
    </p:spTree>
    <p:extLst>
      <p:ext uri="{BB962C8B-B14F-4D97-AF65-F5344CB8AC3E}">
        <p14:creationId xmlns:p14="http://schemas.microsoft.com/office/powerpoint/2010/main" val="426776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1C27D1-4DD1-4FD5-A00C-19FB72C448F4}" type="datetimeFigureOut">
              <a:rPr lang="en-IN" smtClean="0"/>
              <a:t>02-02-2016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3537617-4D74-4685-B77E-F4E0CDFEC05A}" type="slidenum">
              <a:rPr lang="en-IN" smtClean="0"/>
              <a:t>‹#›</a:t>
            </a:fld>
            <a:endParaRPr lang="en-IN"/>
          </a:p>
        </p:txBody>
      </p:sp>
    </p:spTree>
    <p:extLst>
      <p:ext uri="{BB962C8B-B14F-4D97-AF65-F5344CB8AC3E}">
        <p14:creationId xmlns:p14="http://schemas.microsoft.com/office/powerpoint/2010/main" val="3306075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1C27D1-4DD1-4FD5-A00C-19FB72C448F4}" type="datetimeFigureOut">
              <a:rPr lang="en-IN" smtClean="0"/>
              <a:t>02-02-2016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537617-4D74-4685-B77E-F4E0CDFEC05A}" type="slidenum">
              <a:rPr lang="en-IN" smtClean="0"/>
              <a:t>‹#›</a:t>
            </a:fld>
            <a:endParaRPr lang="en-IN"/>
          </a:p>
        </p:txBody>
      </p:sp>
    </p:spTree>
    <p:extLst>
      <p:ext uri="{BB962C8B-B14F-4D97-AF65-F5344CB8AC3E}">
        <p14:creationId xmlns:p14="http://schemas.microsoft.com/office/powerpoint/2010/main" val="2906741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1C27D1-4DD1-4FD5-A00C-19FB72C448F4}" type="datetimeFigureOut">
              <a:rPr lang="en-IN" smtClean="0"/>
              <a:t>02-02-2016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537617-4D74-4685-B77E-F4E0CDFEC05A}" type="slidenum">
              <a:rPr lang="en-IN" smtClean="0"/>
              <a:t>‹#›</a:t>
            </a:fld>
            <a:endParaRPr lang="en-IN"/>
          </a:p>
        </p:txBody>
      </p:sp>
    </p:spTree>
    <p:extLst>
      <p:ext uri="{BB962C8B-B14F-4D97-AF65-F5344CB8AC3E}">
        <p14:creationId xmlns:p14="http://schemas.microsoft.com/office/powerpoint/2010/main" val="3640702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41C27D1-4DD1-4FD5-A00C-19FB72C448F4}" type="datetimeFigureOut">
              <a:rPr lang="en-IN" smtClean="0"/>
              <a:t>02-02-2016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537617-4D74-4685-B77E-F4E0CDFEC05A}" type="slidenum">
              <a:rPr lang="en-IN" smtClean="0"/>
              <a:t>‹#›</a:t>
            </a:fld>
            <a:endParaRPr lang="en-IN"/>
          </a:p>
        </p:txBody>
      </p:sp>
    </p:spTree>
    <p:extLst>
      <p:ext uri="{BB962C8B-B14F-4D97-AF65-F5344CB8AC3E}">
        <p14:creationId xmlns:p14="http://schemas.microsoft.com/office/powerpoint/2010/main" val="2672728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41C27D1-4DD1-4FD5-A00C-19FB72C448F4}" type="datetimeFigureOut">
              <a:rPr lang="en-IN" smtClean="0"/>
              <a:t>02-02-2016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537617-4D74-4685-B77E-F4E0CDFEC05A}" type="slidenum">
              <a:rPr lang="en-IN" smtClean="0"/>
              <a:t>‹#›</a:t>
            </a:fld>
            <a:endParaRPr lang="en-IN"/>
          </a:p>
        </p:txBody>
      </p:sp>
    </p:spTree>
    <p:extLst>
      <p:ext uri="{BB962C8B-B14F-4D97-AF65-F5344CB8AC3E}">
        <p14:creationId xmlns:p14="http://schemas.microsoft.com/office/powerpoint/2010/main" val="2408612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1C27D1-4DD1-4FD5-A00C-19FB72C448F4}" type="datetimeFigureOut">
              <a:rPr lang="en-IN" smtClean="0"/>
              <a:t>02-02-2016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537617-4D74-4685-B77E-F4E0CDFEC05A}" type="slidenum">
              <a:rPr lang="en-IN" smtClean="0"/>
              <a:t>‹#›</a:t>
            </a:fld>
            <a:endParaRPr lang="en-IN"/>
          </a:p>
        </p:txBody>
      </p:sp>
    </p:spTree>
    <p:extLst>
      <p:ext uri="{BB962C8B-B14F-4D97-AF65-F5344CB8AC3E}">
        <p14:creationId xmlns:p14="http://schemas.microsoft.com/office/powerpoint/2010/main" val="1577421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Web Services</a:t>
            </a: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660532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SOA</a:t>
            </a:r>
            <a:endParaRPr lang="en-IN" b="1" dirty="0"/>
          </a:p>
        </p:txBody>
      </p:sp>
      <p:sp>
        <p:nvSpPr>
          <p:cNvPr id="3" name="Content Placeholder 2"/>
          <p:cNvSpPr>
            <a:spLocks noGrp="1"/>
          </p:cNvSpPr>
          <p:nvPr>
            <p:ph idx="1"/>
          </p:nvPr>
        </p:nvSpPr>
        <p:spPr/>
        <p:txBody>
          <a:bodyPr/>
          <a:lstStyle/>
          <a:p>
            <a:r>
              <a:rPr lang="en-IN" dirty="0"/>
              <a:t>A </a:t>
            </a:r>
            <a:r>
              <a:rPr lang="en-IN" b="1" dirty="0"/>
              <a:t>service-oriented architecture</a:t>
            </a:r>
            <a:r>
              <a:rPr lang="en-IN" dirty="0"/>
              <a:t> (</a:t>
            </a:r>
            <a:r>
              <a:rPr lang="en-IN" b="1" dirty="0"/>
              <a:t>SOA</a:t>
            </a:r>
            <a:r>
              <a:rPr lang="en-IN" dirty="0"/>
              <a:t>) is an architectural pattern in computer software design in which application components provide services to other components via a communications protocol, typically over a network. The principles of service-orientation are independent of any vendor, product or technology.</a:t>
            </a:r>
          </a:p>
        </p:txBody>
      </p:sp>
    </p:spTree>
    <p:extLst>
      <p:ext uri="{BB962C8B-B14F-4D97-AF65-F5344CB8AC3E}">
        <p14:creationId xmlns:p14="http://schemas.microsoft.com/office/powerpoint/2010/main" val="1443008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Tenets of SOA</a:t>
            </a:r>
            <a:endParaRPr lang="en-IN" dirty="0"/>
          </a:p>
        </p:txBody>
      </p:sp>
      <p:sp>
        <p:nvSpPr>
          <p:cNvPr id="3" name="Content Placeholder 2"/>
          <p:cNvSpPr>
            <a:spLocks noGrp="1"/>
          </p:cNvSpPr>
          <p:nvPr>
            <p:ph idx="1"/>
          </p:nvPr>
        </p:nvSpPr>
        <p:spPr/>
        <p:txBody>
          <a:bodyPr/>
          <a:lstStyle/>
          <a:p>
            <a:r>
              <a:rPr lang="en-IN" dirty="0" smtClean="0"/>
              <a:t>Boundaries are explicit</a:t>
            </a:r>
          </a:p>
          <a:p>
            <a:r>
              <a:rPr lang="en-IN" dirty="0" smtClean="0"/>
              <a:t>Services are autonomous </a:t>
            </a:r>
          </a:p>
          <a:p>
            <a:r>
              <a:rPr lang="en-IN" dirty="0" smtClean="0"/>
              <a:t>Services shares Schema and Contracts , not class</a:t>
            </a:r>
          </a:p>
          <a:p>
            <a:r>
              <a:rPr lang="en-IN" dirty="0" smtClean="0"/>
              <a:t>Service compatibility is based policies.</a:t>
            </a:r>
            <a:endParaRPr lang="en-IN" dirty="0"/>
          </a:p>
        </p:txBody>
      </p:sp>
    </p:spTree>
    <p:extLst>
      <p:ext uri="{BB962C8B-B14F-4D97-AF65-F5344CB8AC3E}">
        <p14:creationId xmlns:p14="http://schemas.microsoft.com/office/powerpoint/2010/main" val="148201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Communication diagram</a:t>
            </a:r>
            <a:endParaRPr lang="en-IN" dirty="0"/>
          </a:p>
        </p:txBody>
      </p:sp>
      <p:sp>
        <p:nvSpPr>
          <p:cNvPr id="3" name="Content Placeholder 2"/>
          <p:cNvSpPr>
            <a:spLocks noGrp="1"/>
          </p:cNvSpPr>
          <p:nvPr>
            <p:ph idx="1"/>
          </p:nvPr>
        </p:nvSpPr>
        <p:spPr/>
        <p:txBody>
          <a:bodyPr>
            <a:normAutofit/>
          </a:bodyPr>
          <a:lstStyle/>
          <a:p>
            <a:pPr marL="0" indent="0">
              <a:buNone/>
            </a:pPr>
            <a:r>
              <a:rPr lang="en-IN" sz="1600" dirty="0" smtClean="0"/>
              <a:t>1.Client requests for metadata.</a:t>
            </a:r>
          </a:p>
          <a:p>
            <a:pPr marL="0" indent="0">
              <a:buNone/>
            </a:pPr>
            <a:r>
              <a:rPr lang="en-IN" sz="1600" dirty="0" smtClean="0"/>
              <a:t>2.Service replied with meta data.</a:t>
            </a:r>
          </a:p>
          <a:p>
            <a:pPr marL="0" indent="0">
              <a:buNone/>
            </a:pPr>
            <a:r>
              <a:rPr lang="en-IN" sz="1600" dirty="0" smtClean="0"/>
              <a:t>3.Client request for  a  service .(actual request)</a:t>
            </a:r>
          </a:p>
          <a:p>
            <a:pPr marL="0" indent="0">
              <a:buNone/>
            </a:pPr>
            <a:r>
              <a:rPr lang="en-IN" sz="1600" dirty="0" smtClean="0"/>
              <a:t>4. Service sent the response.(</a:t>
            </a:r>
            <a:r>
              <a:rPr lang="en-IN" sz="1600" dirty="0"/>
              <a:t>a</a:t>
            </a:r>
            <a:r>
              <a:rPr lang="en-IN" sz="1600" dirty="0" smtClean="0"/>
              <a:t>ctual </a:t>
            </a:r>
            <a:r>
              <a:rPr lang="en-IN" sz="1600" dirty="0"/>
              <a:t>r</a:t>
            </a:r>
            <a:r>
              <a:rPr lang="en-IN" sz="1600" dirty="0" smtClean="0"/>
              <a:t>esponse)</a:t>
            </a:r>
            <a:endParaRPr lang="en-IN" sz="1600" dirty="0"/>
          </a:p>
        </p:txBody>
      </p:sp>
      <p:sp>
        <p:nvSpPr>
          <p:cNvPr id="4" name="Rectangle 3"/>
          <p:cNvSpPr/>
          <p:nvPr/>
        </p:nvSpPr>
        <p:spPr>
          <a:xfrm>
            <a:off x="1082080" y="3769835"/>
            <a:ext cx="1440160" cy="19442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Client</a:t>
            </a:r>
            <a:endParaRPr lang="en-IN" dirty="0"/>
          </a:p>
        </p:txBody>
      </p:sp>
      <p:sp>
        <p:nvSpPr>
          <p:cNvPr id="5" name="Rectangle 4"/>
          <p:cNvSpPr/>
          <p:nvPr/>
        </p:nvSpPr>
        <p:spPr>
          <a:xfrm>
            <a:off x="6482680" y="3625819"/>
            <a:ext cx="1368152" cy="20882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Arrow Connector 6"/>
          <p:cNvCxnSpPr>
            <a:stCxn id="4" idx="2"/>
          </p:cNvCxnSpPr>
          <p:nvPr/>
        </p:nvCxnSpPr>
        <p:spPr>
          <a:xfrm>
            <a:off x="1802160" y="5714051"/>
            <a:ext cx="0" cy="360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1802160" y="6074091"/>
            <a:ext cx="536459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1734313" y="3265779"/>
            <a:ext cx="0"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7094748" y="3265779"/>
            <a:ext cx="0" cy="3240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1734313" y="3265779"/>
            <a:ext cx="536043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2522242" y="4345899"/>
            <a:ext cx="396043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2522240" y="5209995"/>
            <a:ext cx="39604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6770712" y="4345899"/>
            <a:ext cx="864096" cy="86409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service</a:t>
            </a:r>
            <a:endParaRPr lang="en-IN" dirty="0">
              <a:solidFill>
                <a:srgbClr val="FF0000"/>
              </a:solidFill>
            </a:endParaRPr>
          </a:p>
        </p:txBody>
      </p:sp>
      <p:sp>
        <p:nvSpPr>
          <p:cNvPr id="30" name="Rectangle 29"/>
          <p:cNvSpPr/>
          <p:nvPr/>
        </p:nvSpPr>
        <p:spPr>
          <a:xfrm>
            <a:off x="4225547" y="5714051"/>
            <a:ext cx="64807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002060"/>
                </a:solidFill>
              </a:rPr>
              <a:t>1</a:t>
            </a:r>
            <a:endParaRPr lang="en-IN" dirty="0">
              <a:solidFill>
                <a:srgbClr val="002060"/>
              </a:solidFill>
            </a:endParaRPr>
          </a:p>
        </p:txBody>
      </p:sp>
      <p:sp>
        <p:nvSpPr>
          <p:cNvPr id="31" name="Rectangle 30"/>
          <p:cNvSpPr/>
          <p:nvPr/>
        </p:nvSpPr>
        <p:spPr>
          <a:xfrm>
            <a:off x="4225547" y="4777947"/>
            <a:ext cx="64807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002060"/>
                </a:solidFill>
              </a:rPr>
              <a:t>3</a:t>
            </a:r>
            <a:endParaRPr lang="en-IN" dirty="0">
              <a:solidFill>
                <a:srgbClr val="002060"/>
              </a:solidFill>
            </a:endParaRPr>
          </a:p>
        </p:txBody>
      </p:sp>
      <p:cxnSp>
        <p:nvCxnSpPr>
          <p:cNvPr id="32" name="Straight Arrow Connector 31"/>
          <p:cNvCxnSpPr/>
          <p:nvPr/>
        </p:nvCxnSpPr>
        <p:spPr>
          <a:xfrm flipH="1">
            <a:off x="2522242" y="4345899"/>
            <a:ext cx="381642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225547" y="3985859"/>
            <a:ext cx="64807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002060"/>
                </a:solidFill>
              </a:rPr>
              <a:t>4</a:t>
            </a:r>
            <a:endParaRPr lang="en-IN" dirty="0">
              <a:solidFill>
                <a:srgbClr val="002060"/>
              </a:solidFill>
            </a:endParaRPr>
          </a:p>
        </p:txBody>
      </p:sp>
      <p:sp>
        <p:nvSpPr>
          <p:cNvPr id="34" name="Rectangle 33"/>
          <p:cNvSpPr/>
          <p:nvPr/>
        </p:nvSpPr>
        <p:spPr>
          <a:xfrm rot="10800000" flipV="1">
            <a:off x="4206044" y="2905739"/>
            <a:ext cx="64807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002060"/>
                </a:solidFill>
              </a:rPr>
              <a:t>2</a:t>
            </a:r>
            <a:endParaRPr lang="en-IN" dirty="0">
              <a:solidFill>
                <a:srgbClr val="002060"/>
              </a:solidFill>
            </a:endParaRPr>
          </a:p>
        </p:txBody>
      </p:sp>
      <p:cxnSp>
        <p:nvCxnSpPr>
          <p:cNvPr id="51" name="Straight Arrow Connector 50"/>
          <p:cNvCxnSpPr/>
          <p:nvPr/>
        </p:nvCxnSpPr>
        <p:spPr>
          <a:xfrm flipV="1">
            <a:off x="7166756" y="5750055"/>
            <a:ext cx="0" cy="3240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5828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Existing Distributed technologies</a:t>
            </a:r>
            <a:endParaRPr lang="en-IN" dirty="0"/>
          </a:p>
        </p:txBody>
      </p:sp>
      <p:sp>
        <p:nvSpPr>
          <p:cNvPr id="3" name="Content Placeholder 2"/>
          <p:cNvSpPr>
            <a:spLocks noGrp="1"/>
          </p:cNvSpPr>
          <p:nvPr>
            <p:ph idx="1"/>
          </p:nvPr>
        </p:nvSpPr>
        <p:spPr/>
        <p:txBody>
          <a:bodyPr/>
          <a:lstStyle/>
          <a:p>
            <a:r>
              <a:rPr lang="en-IN" dirty="0" smtClean="0"/>
              <a:t>Web services</a:t>
            </a:r>
          </a:p>
          <a:p>
            <a:r>
              <a:rPr lang="en-IN" dirty="0" smtClean="0"/>
              <a:t>MSMQ</a:t>
            </a:r>
          </a:p>
          <a:p>
            <a:r>
              <a:rPr lang="en-IN" dirty="0" err="1" smtClean="0"/>
              <a:t>.Net</a:t>
            </a:r>
            <a:r>
              <a:rPr lang="en-IN" dirty="0" smtClean="0"/>
              <a:t> </a:t>
            </a:r>
            <a:r>
              <a:rPr lang="en-IN" dirty="0" err="1" smtClean="0"/>
              <a:t>Remoting</a:t>
            </a:r>
            <a:endParaRPr lang="en-IN" dirty="0" smtClean="0"/>
          </a:p>
          <a:p>
            <a:r>
              <a:rPr lang="en-IN" dirty="0" smtClean="0"/>
              <a:t>WSE</a:t>
            </a:r>
          </a:p>
          <a:p>
            <a:r>
              <a:rPr lang="en-IN" dirty="0" smtClean="0"/>
              <a:t>Enterprise Services</a:t>
            </a:r>
            <a:endParaRPr lang="en-IN" dirty="0"/>
          </a:p>
        </p:txBody>
      </p:sp>
    </p:spTree>
    <p:extLst>
      <p:ext uri="{BB962C8B-B14F-4D97-AF65-F5344CB8AC3E}">
        <p14:creationId xmlns:p14="http://schemas.microsoft.com/office/powerpoint/2010/main" val="3516257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Web Service </a:t>
            </a:r>
            <a:endParaRPr lang="en-IN" dirty="0"/>
          </a:p>
        </p:txBody>
      </p:sp>
      <p:sp>
        <p:nvSpPr>
          <p:cNvPr id="3" name="Content Placeholder 2"/>
          <p:cNvSpPr>
            <a:spLocks noGrp="1"/>
          </p:cNvSpPr>
          <p:nvPr>
            <p:ph idx="1"/>
          </p:nvPr>
        </p:nvSpPr>
        <p:spPr/>
        <p:txBody>
          <a:bodyPr>
            <a:normAutofit lnSpcReduction="10000"/>
          </a:bodyPr>
          <a:lstStyle/>
          <a:p>
            <a:r>
              <a:rPr lang="en-IN" dirty="0"/>
              <a:t>Web services are open standard (XML, SOAP, HTTP etc.) based Web applications that interact with other web applications for the purpose of exchanging data</a:t>
            </a:r>
            <a:r>
              <a:rPr lang="en-IN" dirty="0" smtClean="0"/>
              <a:t>.</a:t>
            </a:r>
          </a:p>
          <a:p>
            <a:r>
              <a:rPr lang="en-IN" dirty="0" smtClean="0"/>
              <a:t>Web Services which are rely on web standards and protocol.</a:t>
            </a:r>
          </a:p>
          <a:p>
            <a:r>
              <a:rPr lang="en-IN" dirty="0" smtClean="0"/>
              <a:t>Supports interoperability and cross the firewalls easily.</a:t>
            </a:r>
          </a:p>
          <a:p>
            <a:r>
              <a:rPr lang="en-IN" dirty="0" smtClean="0"/>
              <a:t>API present in </a:t>
            </a:r>
            <a:r>
              <a:rPr lang="en-IN" dirty="0" err="1" smtClean="0"/>
              <a:t>System.Web.Services</a:t>
            </a:r>
            <a:endParaRPr lang="en-IN" dirty="0" smtClean="0"/>
          </a:p>
        </p:txBody>
      </p:sp>
    </p:spTree>
    <p:extLst>
      <p:ext uri="{BB962C8B-B14F-4D97-AF65-F5344CB8AC3E}">
        <p14:creationId xmlns:p14="http://schemas.microsoft.com/office/powerpoint/2010/main" val="3046836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MSMQ</a:t>
            </a:r>
            <a:endParaRPr lang="en-IN" dirty="0"/>
          </a:p>
        </p:txBody>
      </p:sp>
      <p:sp>
        <p:nvSpPr>
          <p:cNvPr id="3" name="Content Placeholder 2"/>
          <p:cNvSpPr>
            <a:spLocks noGrp="1"/>
          </p:cNvSpPr>
          <p:nvPr>
            <p:ph idx="1"/>
          </p:nvPr>
        </p:nvSpPr>
        <p:spPr/>
        <p:txBody>
          <a:bodyPr/>
          <a:lstStyle/>
          <a:p>
            <a:r>
              <a:rPr lang="en-IN" dirty="0" smtClean="0"/>
              <a:t>Asynchronous based communication through message transfer.</a:t>
            </a:r>
          </a:p>
          <a:p>
            <a:r>
              <a:rPr lang="en-IN" dirty="0" smtClean="0"/>
              <a:t>Follows fire and forget approach.</a:t>
            </a:r>
          </a:p>
          <a:p>
            <a:r>
              <a:rPr lang="en-IN" dirty="0" smtClean="0"/>
              <a:t>Provides reliability.</a:t>
            </a:r>
          </a:p>
          <a:p>
            <a:r>
              <a:rPr lang="en-IN" dirty="0" smtClean="0"/>
              <a:t>API present in </a:t>
            </a:r>
            <a:r>
              <a:rPr lang="en-IN" dirty="0" err="1" smtClean="0"/>
              <a:t>System.Messaging</a:t>
            </a:r>
            <a:endParaRPr lang="en-IN" dirty="0" smtClean="0"/>
          </a:p>
          <a:p>
            <a:endParaRPr lang="en-IN" dirty="0"/>
          </a:p>
        </p:txBody>
      </p:sp>
    </p:spTree>
    <p:extLst>
      <p:ext uri="{BB962C8B-B14F-4D97-AF65-F5344CB8AC3E}">
        <p14:creationId xmlns:p14="http://schemas.microsoft.com/office/powerpoint/2010/main" val="3784494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WSE</a:t>
            </a:r>
            <a:endParaRPr lang="en-IN" dirty="0"/>
          </a:p>
        </p:txBody>
      </p:sp>
      <p:sp>
        <p:nvSpPr>
          <p:cNvPr id="3" name="Content Placeholder 2"/>
          <p:cNvSpPr>
            <a:spLocks noGrp="1"/>
          </p:cNvSpPr>
          <p:nvPr>
            <p:ph idx="1"/>
          </p:nvPr>
        </p:nvSpPr>
        <p:spPr/>
        <p:txBody>
          <a:bodyPr>
            <a:normAutofit lnSpcReduction="10000"/>
          </a:bodyPr>
          <a:lstStyle/>
          <a:p>
            <a:r>
              <a:rPr lang="en-IN" dirty="0" smtClean="0"/>
              <a:t>Extension to Web services.</a:t>
            </a:r>
          </a:p>
          <a:p>
            <a:r>
              <a:rPr lang="en-IN" dirty="0" smtClean="0"/>
              <a:t>Additional capabilities like</a:t>
            </a:r>
          </a:p>
          <a:p>
            <a:pPr marL="514350" indent="-514350">
              <a:buFont typeface="+mj-lt"/>
              <a:buAutoNum type="arabicPeriod"/>
            </a:pPr>
            <a:r>
              <a:rPr lang="en-IN" dirty="0" smtClean="0"/>
              <a:t>Security</a:t>
            </a:r>
          </a:p>
          <a:p>
            <a:pPr marL="514350" indent="-514350">
              <a:buFont typeface="+mj-lt"/>
              <a:buAutoNum type="arabicPeriod"/>
            </a:pPr>
            <a:r>
              <a:rPr lang="en-IN" dirty="0" smtClean="0"/>
              <a:t>More reliable messaging.</a:t>
            </a:r>
          </a:p>
          <a:p>
            <a:pPr marL="514350" indent="-514350">
              <a:buFont typeface="+mj-lt"/>
              <a:buAutoNum type="arabicPeriod"/>
            </a:pPr>
            <a:r>
              <a:rPr lang="en-IN" dirty="0" smtClean="0"/>
              <a:t>Transactions</a:t>
            </a:r>
          </a:p>
          <a:p>
            <a:pPr marL="514350" indent="-514350">
              <a:buFont typeface="+mj-lt"/>
              <a:buAutoNum type="arabicPeriod"/>
            </a:pPr>
            <a:r>
              <a:rPr lang="en-IN" dirty="0" smtClean="0"/>
              <a:t>Provides above in open way</a:t>
            </a:r>
          </a:p>
          <a:p>
            <a:pPr marL="514350" indent="-514350">
              <a:buFont typeface="+mj-lt"/>
              <a:buAutoNum type="arabicPeriod"/>
            </a:pPr>
            <a:r>
              <a:rPr lang="en-IN" dirty="0" smtClean="0"/>
              <a:t>Provides a standard infrastructure for providing next generation web services.</a:t>
            </a:r>
            <a:endParaRPr lang="en-IN" dirty="0"/>
          </a:p>
        </p:txBody>
      </p:sp>
    </p:spTree>
    <p:extLst>
      <p:ext uri="{BB962C8B-B14F-4D97-AF65-F5344CB8AC3E}">
        <p14:creationId xmlns:p14="http://schemas.microsoft.com/office/powerpoint/2010/main" val="3060336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Enterprise services</a:t>
            </a:r>
            <a:endParaRPr lang="en-IN" dirty="0"/>
          </a:p>
        </p:txBody>
      </p:sp>
      <p:sp>
        <p:nvSpPr>
          <p:cNvPr id="3" name="Content Placeholder 2"/>
          <p:cNvSpPr>
            <a:spLocks noGrp="1"/>
          </p:cNvSpPr>
          <p:nvPr>
            <p:ph idx="1"/>
          </p:nvPr>
        </p:nvSpPr>
        <p:spPr/>
        <p:txBody>
          <a:bodyPr/>
          <a:lstStyle/>
          <a:p>
            <a:r>
              <a:rPr lang="en-IN" dirty="0" smtClean="0"/>
              <a:t>COM+ is a combination of COM,DCOM,MTS and MSMQ</a:t>
            </a:r>
          </a:p>
          <a:p>
            <a:r>
              <a:rPr lang="en-IN" dirty="0" smtClean="0"/>
              <a:t>Layer on top of COM+</a:t>
            </a:r>
          </a:p>
          <a:p>
            <a:r>
              <a:rPr lang="en-IN" dirty="0" smtClean="0"/>
              <a:t>Provides necessary service infrastructure to </a:t>
            </a:r>
            <a:r>
              <a:rPr lang="en-IN" dirty="0" err="1" smtClean="0"/>
              <a:t>.Net</a:t>
            </a:r>
            <a:r>
              <a:rPr lang="en-IN" dirty="0" smtClean="0"/>
              <a:t> Assemblies</a:t>
            </a:r>
          </a:p>
          <a:p>
            <a:r>
              <a:rPr lang="en-IN" dirty="0" smtClean="0"/>
              <a:t>API present in </a:t>
            </a:r>
            <a:r>
              <a:rPr lang="en-IN" dirty="0" err="1" smtClean="0"/>
              <a:t>System.EnterpriseServices</a:t>
            </a:r>
            <a:endParaRPr lang="en-IN" dirty="0"/>
          </a:p>
        </p:txBody>
      </p:sp>
    </p:spTree>
    <p:extLst>
      <p:ext uri="{BB962C8B-B14F-4D97-AF65-F5344CB8AC3E}">
        <p14:creationId xmlns:p14="http://schemas.microsoft.com/office/powerpoint/2010/main" val="1841816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.NET </a:t>
            </a:r>
            <a:r>
              <a:rPr lang="en-IN" dirty="0" err="1" smtClean="0"/>
              <a:t>Remoting</a:t>
            </a:r>
            <a:endParaRPr lang="en-IN" dirty="0"/>
          </a:p>
        </p:txBody>
      </p:sp>
      <p:sp>
        <p:nvSpPr>
          <p:cNvPr id="3" name="Content Placeholder 2"/>
          <p:cNvSpPr>
            <a:spLocks noGrp="1"/>
          </p:cNvSpPr>
          <p:nvPr>
            <p:ph idx="1"/>
          </p:nvPr>
        </p:nvSpPr>
        <p:spPr/>
        <p:txBody>
          <a:bodyPr>
            <a:normAutofit/>
          </a:bodyPr>
          <a:lstStyle/>
          <a:p>
            <a:r>
              <a:rPr lang="en-IN" dirty="0" smtClean="0"/>
              <a:t>Built using :</a:t>
            </a:r>
          </a:p>
          <a:p>
            <a:pPr lvl="1"/>
            <a:r>
              <a:rPr lang="en-IN" dirty="0" smtClean="0"/>
              <a:t>A </a:t>
            </a:r>
            <a:r>
              <a:rPr lang="en-IN" dirty="0" err="1" smtClean="0"/>
              <a:t>remotable</a:t>
            </a:r>
            <a:r>
              <a:rPr lang="en-IN" dirty="0" smtClean="0"/>
              <a:t> objet which I available across </a:t>
            </a:r>
            <a:r>
              <a:rPr lang="en-IN" dirty="0" err="1" smtClean="0"/>
              <a:t>AppDomains</a:t>
            </a:r>
            <a:r>
              <a:rPr lang="en-IN" dirty="0" smtClean="0"/>
              <a:t>, Processes or different machines.</a:t>
            </a:r>
          </a:p>
          <a:p>
            <a:pPr lvl="1"/>
            <a:r>
              <a:rPr lang="en-IN" dirty="0" smtClean="0"/>
              <a:t>A host applications to listen for the request  for that object.</a:t>
            </a:r>
          </a:p>
          <a:p>
            <a:pPr lvl="1"/>
            <a:r>
              <a:rPr lang="en-IN" dirty="0" smtClean="0"/>
              <a:t>A client application that makes requests for the request.</a:t>
            </a:r>
          </a:p>
          <a:p>
            <a:pPr marL="914400" lvl="2" indent="0">
              <a:buNone/>
            </a:pPr>
            <a:endParaRPr lang="en-IN" dirty="0"/>
          </a:p>
        </p:txBody>
      </p:sp>
    </p:spTree>
    <p:extLst>
      <p:ext uri="{BB962C8B-B14F-4D97-AF65-F5344CB8AC3E}">
        <p14:creationId xmlns:p14="http://schemas.microsoft.com/office/powerpoint/2010/main" val="323193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are Webservices?</a:t>
            </a:r>
            <a:endParaRPr lang="en-IN" dirty="0"/>
          </a:p>
        </p:txBody>
      </p:sp>
      <p:sp>
        <p:nvSpPr>
          <p:cNvPr id="3" name="Content Placeholder 2"/>
          <p:cNvSpPr>
            <a:spLocks noGrp="1"/>
          </p:cNvSpPr>
          <p:nvPr>
            <p:ph idx="1"/>
          </p:nvPr>
        </p:nvSpPr>
        <p:spPr/>
        <p:txBody>
          <a:bodyPr>
            <a:normAutofit fontScale="92500" lnSpcReduction="20000"/>
          </a:bodyPr>
          <a:lstStyle/>
          <a:p>
            <a:r>
              <a:rPr lang="en-IN" dirty="0"/>
              <a:t>A web service is any piece of software that makes itself available over the internet and uses a standardized XML messaging system. XML is used to encode all communications to a web service. For example, a client invokes a web service by sending an XML message, then waits for a corresponding XML response. As all communication is in XML, web services are not tied to any one operating system or programming language--Java can talk with Perl; Windows applications can talk with Unix applications</a:t>
            </a:r>
            <a:r>
              <a:rPr lang="en-IN" dirty="0" smtClean="0"/>
              <a:t>.</a:t>
            </a:r>
          </a:p>
          <a:p>
            <a:pPr marL="0" indent="0">
              <a:buNone/>
            </a:pPr>
            <a:endParaRPr lang="en-IN" dirty="0"/>
          </a:p>
        </p:txBody>
      </p:sp>
    </p:spTree>
    <p:extLst>
      <p:ext uri="{BB962C8B-B14F-4D97-AF65-F5344CB8AC3E}">
        <p14:creationId xmlns:p14="http://schemas.microsoft.com/office/powerpoint/2010/main" val="3336030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How Does a Web Service Work</a:t>
            </a:r>
            <a:r>
              <a:rPr lang="en-IN" dirty="0" smtClean="0"/>
              <a:t>?</a:t>
            </a:r>
            <a:endParaRPr lang="en-IN" dirty="0"/>
          </a:p>
        </p:txBody>
      </p:sp>
      <p:sp>
        <p:nvSpPr>
          <p:cNvPr id="3" name="Content Placeholder 2"/>
          <p:cNvSpPr>
            <a:spLocks noGrp="1"/>
          </p:cNvSpPr>
          <p:nvPr>
            <p:ph idx="1"/>
          </p:nvPr>
        </p:nvSpPr>
        <p:spPr/>
        <p:txBody>
          <a:bodyPr/>
          <a:lstStyle/>
          <a:p>
            <a:r>
              <a:rPr lang="en-IN" dirty="0"/>
              <a:t>A web service enables communication among various applications by using open standards such as HTML, XML, WSDL, and SOAP. A web service takes the help of:</a:t>
            </a:r>
          </a:p>
          <a:p>
            <a:pPr lvl="1"/>
            <a:r>
              <a:rPr lang="en-IN" dirty="0"/>
              <a:t>XML to tag the data</a:t>
            </a:r>
          </a:p>
          <a:p>
            <a:pPr lvl="1"/>
            <a:r>
              <a:rPr lang="en-IN" dirty="0"/>
              <a:t>SOAP to transfer a message</a:t>
            </a:r>
          </a:p>
          <a:p>
            <a:pPr lvl="1"/>
            <a:r>
              <a:rPr lang="en-IN" dirty="0"/>
              <a:t>WSDL to describe the availability of service.</a:t>
            </a:r>
          </a:p>
          <a:p>
            <a:endParaRPr lang="en-IN" dirty="0"/>
          </a:p>
        </p:txBody>
      </p:sp>
    </p:spTree>
    <p:extLst>
      <p:ext uri="{BB962C8B-B14F-4D97-AF65-F5344CB8AC3E}">
        <p14:creationId xmlns:p14="http://schemas.microsoft.com/office/powerpoint/2010/main" val="3223935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Why Webservices ?</a:t>
            </a:r>
            <a:endParaRPr lang="en-IN" dirty="0"/>
          </a:p>
        </p:txBody>
      </p:sp>
      <p:sp>
        <p:nvSpPr>
          <p:cNvPr id="3" name="Content Placeholder 2"/>
          <p:cNvSpPr>
            <a:spLocks noGrp="1"/>
          </p:cNvSpPr>
          <p:nvPr>
            <p:ph idx="1"/>
          </p:nvPr>
        </p:nvSpPr>
        <p:spPr/>
        <p:txBody>
          <a:bodyPr>
            <a:normAutofit fontScale="25000" lnSpcReduction="20000"/>
          </a:bodyPr>
          <a:lstStyle/>
          <a:p>
            <a:r>
              <a:rPr lang="en-IN" sz="7200" b="1" dirty="0"/>
              <a:t>Interoperability</a:t>
            </a:r>
          </a:p>
          <a:p>
            <a:pPr lvl="1"/>
            <a:r>
              <a:rPr lang="en-IN" sz="7200" dirty="0"/>
              <a:t>Web services allow various applications to talk to each other and share data and services among themselves. Other applications can also use the web services. For example, a VB or .NET application can talk to Java web services and vice versa. Web services are used to make the application platform and technology independent.</a:t>
            </a:r>
          </a:p>
          <a:p>
            <a:r>
              <a:rPr lang="en-IN" sz="7200" b="1" dirty="0"/>
              <a:t>Standardized Protocol</a:t>
            </a:r>
          </a:p>
          <a:p>
            <a:pPr lvl="1"/>
            <a:r>
              <a:rPr lang="en-IN" sz="7200" dirty="0"/>
              <a:t>Web services use standardized industry standard protocol for the communication. All the four layers (Service Transport, XML Messaging, Service Description, and Service Discovery layers) use well-defined protocols in the web services protocol stack. This standardization of protocol stack gives the business many advantages such as a wide range of choices, reduction in the cost due to competition, and increase in the quality.</a:t>
            </a:r>
          </a:p>
          <a:p>
            <a:r>
              <a:rPr lang="en-IN" sz="7200" b="1" dirty="0"/>
              <a:t>Low Cost of Communication</a:t>
            </a:r>
          </a:p>
          <a:p>
            <a:pPr lvl="1"/>
            <a:r>
              <a:rPr lang="en-IN" sz="7200" dirty="0"/>
              <a:t>Web services use SOAP over HTTP protocol, so you can use your existing low-cost internet for implementing web services. This solution is much less costly compared to proprietary solutions like EDI/B2B. Besides SOAP over HTTP, web services can also be implemented on other reliable transport mechanisms like FTP.</a:t>
            </a:r>
          </a:p>
          <a:p>
            <a:endParaRPr lang="en-IN" dirty="0"/>
          </a:p>
        </p:txBody>
      </p:sp>
    </p:spTree>
    <p:extLst>
      <p:ext uri="{BB962C8B-B14F-4D97-AF65-F5344CB8AC3E}">
        <p14:creationId xmlns:p14="http://schemas.microsoft.com/office/powerpoint/2010/main" val="2646245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Components of Web </a:t>
            </a:r>
            <a:r>
              <a:rPr lang="en-IN" dirty="0" smtClean="0"/>
              <a:t>Services</a:t>
            </a:r>
            <a:endParaRPr lang="en-IN" dirty="0"/>
          </a:p>
        </p:txBody>
      </p:sp>
      <p:sp>
        <p:nvSpPr>
          <p:cNvPr id="3" name="Content Placeholder 2"/>
          <p:cNvSpPr>
            <a:spLocks noGrp="1"/>
          </p:cNvSpPr>
          <p:nvPr>
            <p:ph idx="1"/>
          </p:nvPr>
        </p:nvSpPr>
        <p:spPr/>
        <p:txBody>
          <a:bodyPr>
            <a:normAutofit/>
          </a:bodyPr>
          <a:lstStyle/>
          <a:p>
            <a:r>
              <a:rPr lang="en-IN" dirty="0"/>
              <a:t>The basic web services platform is XML + HTTP. All the standard web services work using the following components</a:t>
            </a:r>
          </a:p>
          <a:p>
            <a:pPr lvl="1"/>
            <a:r>
              <a:rPr lang="en-IN" dirty="0"/>
              <a:t>SOAP (Simple Object Access Protocol)</a:t>
            </a:r>
          </a:p>
          <a:p>
            <a:pPr lvl="1"/>
            <a:r>
              <a:rPr lang="en-IN" dirty="0"/>
              <a:t>UDDI (Universal Description, Discovery and Integration)</a:t>
            </a:r>
          </a:p>
          <a:p>
            <a:pPr lvl="1"/>
            <a:r>
              <a:rPr lang="en-IN" dirty="0"/>
              <a:t>WSDL (Web Services Description Language)</a:t>
            </a:r>
          </a:p>
          <a:p>
            <a:pPr marL="0" indent="0">
              <a:buNone/>
            </a:pPr>
            <a:endParaRPr lang="en-IN" dirty="0"/>
          </a:p>
        </p:txBody>
      </p:sp>
    </p:spTree>
    <p:extLst>
      <p:ext uri="{BB962C8B-B14F-4D97-AF65-F5344CB8AC3E}">
        <p14:creationId xmlns:p14="http://schemas.microsoft.com/office/powerpoint/2010/main" val="904079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SOAP</a:t>
            </a:r>
            <a:endParaRPr lang="en-IN" dirty="0"/>
          </a:p>
        </p:txBody>
      </p:sp>
      <p:sp>
        <p:nvSpPr>
          <p:cNvPr id="3" name="Content Placeholder 2"/>
          <p:cNvSpPr>
            <a:spLocks noGrp="1"/>
          </p:cNvSpPr>
          <p:nvPr>
            <p:ph idx="1"/>
          </p:nvPr>
        </p:nvSpPr>
        <p:spPr/>
        <p:txBody>
          <a:bodyPr>
            <a:normAutofit/>
          </a:bodyPr>
          <a:lstStyle/>
          <a:p>
            <a:r>
              <a:rPr lang="en-IN" sz="1800" dirty="0"/>
              <a:t>SOAP was originally part of the specification that included the Web Services Description Language (WSDL) and Universal Description, Discovery, and Integration (UDDI). It is used now without WSDL and UDDI. Instead of the discovery process described in the History of the Web Services Specification section below, SOAP messages are hard-coded or </a:t>
            </a:r>
            <a:r>
              <a:rPr lang="en-IN" sz="1800" dirty="0" smtClean="0"/>
              <a:t>generated </a:t>
            </a:r>
            <a:r>
              <a:rPr lang="en-IN" sz="1800" dirty="0"/>
              <a:t>without the use of a repository. The interaction is illustrated in the figure </a:t>
            </a:r>
            <a:r>
              <a:rPr lang="en-IN" sz="1800" dirty="0" smtClean="0"/>
              <a:t>below</a:t>
            </a:r>
            <a:r>
              <a:rPr lang="en-IN" sz="1800" dirty="0"/>
              <a:t>. </a:t>
            </a:r>
            <a:endParaRPr lang="en-IN" sz="1800" dirty="0" smtClean="0"/>
          </a:p>
          <a:p>
            <a:pPr marL="0" indent="0">
              <a:buNone/>
            </a:pPr>
            <a:endParaRPr lang="en-IN" sz="1800" dirty="0"/>
          </a:p>
        </p:txBody>
      </p:sp>
      <p:pic>
        <p:nvPicPr>
          <p:cNvPr id="1026" name="Picture 2" descr="C:\Users\Raja\Desktop\soap_messag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1" y="3717032"/>
            <a:ext cx="3990975" cy="260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6961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UDDI</a:t>
            </a:r>
            <a:endParaRPr lang="en-IN" dirty="0"/>
          </a:p>
        </p:txBody>
      </p:sp>
      <p:sp>
        <p:nvSpPr>
          <p:cNvPr id="3" name="Content Placeholder 2"/>
          <p:cNvSpPr>
            <a:spLocks noGrp="1"/>
          </p:cNvSpPr>
          <p:nvPr>
            <p:ph idx="1"/>
          </p:nvPr>
        </p:nvSpPr>
        <p:spPr/>
        <p:txBody>
          <a:bodyPr>
            <a:normAutofit fontScale="70000" lnSpcReduction="20000"/>
          </a:bodyPr>
          <a:lstStyle/>
          <a:p>
            <a:r>
              <a:rPr lang="en-IN" dirty="0"/>
              <a:t>UDDI is an XML-based standard for describing, publishing, and finding web services.</a:t>
            </a:r>
          </a:p>
          <a:p>
            <a:r>
              <a:rPr lang="en-IN" dirty="0"/>
              <a:t>UDDI stands for Universal Description, Discovery, and Integration.</a:t>
            </a:r>
          </a:p>
          <a:p>
            <a:r>
              <a:rPr lang="en-IN" dirty="0"/>
              <a:t>UDDI is a specification for a distributed registry of web services.</a:t>
            </a:r>
          </a:p>
          <a:p>
            <a:r>
              <a:rPr lang="en-IN" dirty="0"/>
              <a:t>UDDI is platform independent, open framework.</a:t>
            </a:r>
          </a:p>
          <a:p>
            <a:r>
              <a:rPr lang="en-IN" dirty="0"/>
              <a:t>UDDI can communicate via SOAP, CORBA, and Java RMI Protocol.</a:t>
            </a:r>
          </a:p>
          <a:p>
            <a:r>
              <a:rPr lang="en-IN" dirty="0"/>
              <a:t>UDDI uses WSDL to describe interfaces to web services.</a:t>
            </a:r>
          </a:p>
          <a:p>
            <a:r>
              <a:rPr lang="en-IN" dirty="0"/>
              <a:t>UDDI is seen with SOAP and WSDL as one of the three foundation standards of web services.</a:t>
            </a:r>
          </a:p>
          <a:p>
            <a:r>
              <a:rPr lang="en-IN" dirty="0"/>
              <a:t>UDDI is an open industry initiative enabling businesses to discover each other and define how they interact over the Internet.</a:t>
            </a:r>
          </a:p>
          <a:p>
            <a:endParaRPr lang="en-IN" dirty="0"/>
          </a:p>
        </p:txBody>
      </p:sp>
    </p:spTree>
    <p:extLst>
      <p:ext uri="{BB962C8B-B14F-4D97-AF65-F5344CB8AC3E}">
        <p14:creationId xmlns:p14="http://schemas.microsoft.com/office/powerpoint/2010/main" val="2617955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Web Services Mess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76057"/>
            <a:ext cx="7089254" cy="6573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693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WSDL</a:t>
            </a:r>
            <a:endParaRPr lang="en-IN" dirty="0"/>
          </a:p>
        </p:txBody>
      </p:sp>
      <p:sp>
        <p:nvSpPr>
          <p:cNvPr id="3" name="Content Placeholder 2"/>
          <p:cNvSpPr>
            <a:spLocks noGrp="1"/>
          </p:cNvSpPr>
          <p:nvPr>
            <p:ph idx="1"/>
          </p:nvPr>
        </p:nvSpPr>
        <p:spPr/>
        <p:txBody>
          <a:bodyPr>
            <a:normAutofit fontScale="62500" lnSpcReduction="20000"/>
          </a:bodyPr>
          <a:lstStyle/>
          <a:p>
            <a:r>
              <a:rPr lang="en-IN" dirty="0"/>
              <a:t>WSDL is an XML-based language for describing web services and how to access them.</a:t>
            </a:r>
          </a:p>
          <a:p>
            <a:r>
              <a:rPr lang="en-IN" dirty="0"/>
              <a:t>WSDL stands for Web Services Description Language.</a:t>
            </a:r>
          </a:p>
          <a:p>
            <a:r>
              <a:rPr lang="en-IN" dirty="0"/>
              <a:t>WSDL was developed jointly by Microsoft and IBM.</a:t>
            </a:r>
          </a:p>
          <a:p>
            <a:r>
              <a:rPr lang="en-IN" dirty="0"/>
              <a:t>WSDL is an XML based protocol for information exchange in decentralized and distributed environments.</a:t>
            </a:r>
          </a:p>
          <a:p>
            <a:r>
              <a:rPr lang="en-IN" dirty="0"/>
              <a:t>WSDL is the standard format for describing a web service.</a:t>
            </a:r>
          </a:p>
          <a:p>
            <a:r>
              <a:rPr lang="en-IN" dirty="0"/>
              <a:t>WSDL definition describes how to access a web service and what operations it will perform.</a:t>
            </a:r>
          </a:p>
          <a:p>
            <a:r>
              <a:rPr lang="en-IN" dirty="0"/>
              <a:t>WSDL is a language for describing how to interface with XML-based services.</a:t>
            </a:r>
          </a:p>
          <a:p>
            <a:r>
              <a:rPr lang="en-IN" dirty="0"/>
              <a:t>WSDL is an integral part of UDDI, an XML-based worldwide business registry.</a:t>
            </a:r>
          </a:p>
          <a:p>
            <a:r>
              <a:rPr lang="en-IN" dirty="0"/>
              <a:t>WSDL is the language that UDDI uses.</a:t>
            </a:r>
          </a:p>
          <a:p>
            <a:r>
              <a:rPr lang="en-IN" dirty="0"/>
              <a:t>WSDL is pronounced as 'wiz-dull' and spelled out as 'W-S-D-L'.</a:t>
            </a:r>
          </a:p>
          <a:p>
            <a:endParaRPr lang="en-IN" dirty="0"/>
          </a:p>
        </p:txBody>
      </p:sp>
    </p:spTree>
    <p:extLst>
      <p:ext uri="{BB962C8B-B14F-4D97-AF65-F5344CB8AC3E}">
        <p14:creationId xmlns:p14="http://schemas.microsoft.com/office/powerpoint/2010/main" val="248001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eb Services Bas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196752"/>
            <a:ext cx="6421530" cy="4989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936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Representation State Transfer (REST</a:t>
            </a:r>
            <a:r>
              <a:rPr lang="en-IN" dirty="0" smtClean="0"/>
              <a:t>)</a:t>
            </a:r>
            <a:endParaRPr lang="en-IN" dirty="0"/>
          </a:p>
        </p:txBody>
      </p:sp>
      <p:sp>
        <p:nvSpPr>
          <p:cNvPr id="3" name="Content Placeholder 2"/>
          <p:cNvSpPr>
            <a:spLocks noGrp="1"/>
          </p:cNvSpPr>
          <p:nvPr>
            <p:ph idx="1"/>
          </p:nvPr>
        </p:nvSpPr>
        <p:spPr/>
        <p:txBody>
          <a:bodyPr>
            <a:normAutofit/>
          </a:bodyPr>
          <a:lstStyle/>
          <a:p>
            <a:r>
              <a:rPr lang="en-IN" sz="1600" dirty="0"/>
              <a:t>Representation State Transfer (REST) appeals to developers because it has a simpler style that makes it easier to use than SOAP. It also less verbose so that less volume is sent when communicating. The interaction is illustrated </a:t>
            </a:r>
            <a:r>
              <a:rPr lang="en-IN" sz="1600" dirty="0" smtClean="0"/>
              <a:t>in </a:t>
            </a:r>
            <a:r>
              <a:rPr lang="en-IN" sz="1600" dirty="0"/>
              <a:t>the </a:t>
            </a:r>
            <a:r>
              <a:rPr lang="en-IN" sz="1600" dirty="0" smtClean="0"/>
              <a:t>figure below</a:t>
            </a:r>
          </a:p>
          <a:p>
            <a:endParaRPr lang="en-IN" sz="1600" dirty="0"/>
          </a:p>
        </p:txBody>
      </p:sp>
      <p:pic>
        <p:nvPicPr>
          <p:cNvPr id="4" name="Picture 2" descr="REST Mess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451822"/>
            <a:ext cx="6552728" cy="3815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0267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JavaScript Object Notation (JSON</a:t>
            </a:r>
            <a:r>
              <a:rPr lang="en-IN" dirty="0" smtClean="0"/>
              <a:t>)</a:t>
            </a:r>
            <a:endParaRPr lang="en-IN" dirty="0"/>
          </a:p>
        </p:txBody>
      </p:sp>
      <p:sp>
        <p:nvSpPr>
          <p:cNvPr id="3" name="Content Placeholder 2"/>
          <p:cNvSpPr>
            <a:spLocks noGrp="1"/>
          </p:cNvSpPr>
          <p:nvPr>
            <p:ph idx="1"/>
          </p:nvPr>
        </p:nvSpPr>
        <p:spPr/>
        <p:txBody>
          <a:bodyPr>
            <a:normAutofit/>
          </a:bodyPr>
          <a:lstStyle/>
          <a:p>
            <a:r>
              <a:rPr lang="en-IN" sz="1600" dirty="0" smtClean="0"/>
              <a:t>While </a:t>
            </a:r>
            <a:r>
              <a:rPr lang="en-IN" sz="1600" dirty="0"/>
              <a:t>both SOAP and REST use XML for interchange, JavaScript Object Notation (JSON) uses a subset of JavaScript. This is illustrated in the </a:t>
            </a:r>
            <a:r>
              <a:rPr lang="en-IN" sz="1600" dirty="0" smtClean="0"/>
              <a:t>figure </a:t>
            </a:r>
            <a:r>
              <a:rPr lang="en-IN" sz="1600" dirty="0"/>
              <a:t>below</a:t>
            </a:r>
          </a:p>
        </p:txBody>
      </p:sp>
      <p:pic>
        <p:nvPicPr>
          <p:cNvPr id="5" name="Picture 2" descr="JSON Mess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249175"/>
            <a:ext cx="6951824" cy="4276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3214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2333006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TotalTime>
  <Words>1042</Words>
  <Application>Microsoft Office PowerPoint</Application>
  <PresentationFormat>On-screen Show (4:3)</PresentationFormat>
  <Paragraphs>98</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Web Services</vt:lpstr>
      <vt:lpstr>SOA</vt:lpstr>
      <vt:lpstr>Tenets of SOA</vt:lpstr>
      <vt:lpstr>Communication diagram</vt:lpstr>
      <vt:lpstr>Existing Distributed technologies</vt:lpstr>
      <vt:lpstr>Web Service </vt:lpstr>
      <vt:lpstr>MSMQ</vt:lpstr>
      <vt:lpstr>WSE</vt:lpstr>
      <vt:lpstr>Enterprise services</vt:lpstr>
      <vt:lpstr>.NET Remoting</vt:lpstr>
      <vt:lpstr>What are Webservices?</vt:lpstr>
      <vt:lpstr>How Does a Web Service Work?</vt:lpstr>
      <vt:lpstr>Why Webservices ?</vt:lpstr>
      <vt:lpstr>Components of Web Services</vt:lpstr>
      <vt:lpstr>SOAP</vt:lpstr>
      <vt:lpstr>UDDI</vt:lpstr>
      <vt:lpstr>PowerPoint Presentation</vt:lpstr>
      <vt:lpstr>WSDL</vt:lpstr>
      <vt:lpstr>PowerPoint Presentation</vt:lpstr>
      <vt:lpstr>Representation State Transfer (REST)</vt:lpstr>
      <vt:lpstr>JavaScript Object Notation (JSON)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Services</dc:title>
  <dc:creator>Raja</dc:creator>
  <cp:lastModifiedBy>Raja</cp:lastModifiedBy>
  <cp:revision>14</cp:revision>
  <dcterms:created xsi:type="dcterms:W3CDTF">2016-02-02T00:07:21Z</dcterms:created>
  <dcterms:modified xsi:type="dcterms:W3CDTF">2016-02-02T03:15:43Z</dcterms:modified>
</cp:coreProperties>
</file>